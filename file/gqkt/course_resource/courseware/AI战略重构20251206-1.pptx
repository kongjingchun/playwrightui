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</p:sldIdLst>
  <p:sldSz cx="17475200" cy="9753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54708" y="2559052"/>
            <a:ext cx="6622925" cy="5645188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958921" y="2751735"/>
            <a:ext cx="4176395" cy="58693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91565" algn="l" rtl="0" eaLnBrk="0">
              <a:lnSpc>
                <a:spcPct val="81000"/>
              </a:lnSpc>
            </a:pPr>
            <a:r>
              <a:rPr sz="3500" b="1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Mistral</a:t>
            </a:r>
            <a:endParaRPr sz="3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97915" algn="l" rtl="0" eaLnBrk="0">
              <a:lnSpc>
                <a:spcPct val="82000"/>
              </a:lnSpc>
              <a:spcBef>
                <a:spcPts val="1040"/>
              </a:spcBef>
            </a:pP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Al</a:t>
            </a:r>
            <a:endParaRPr sz="2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r" rtl="0" eaLnBrk="0">
              <a:lnSpc>
                <a:spcPct val="85000"/>
              </a:lnSpc>
              <a:spcBef>
                <a:spcPts val="665"/>
              </a:spcBef>
            </a:pPr>
            <a:r>
              <a:rPr sz="2200" b="1" kern="0" spc="5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模型发布：</a:t>
            </a:r>
            <a:r>
              <a:rPr sz="2200" kern="0" spc="5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推出新一代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Mistral</a:t>
            </a:r>
            <a:r>
              <a:rPr sz="2200" kern="0" spc="50" dirty="0">
                <a:solidFill>
                  <a:srgbClr val="000000">
                    <a:alpha val="100000"/>
                  </a:srgbClr>
                </a:solidFill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 3</a:t>
            </a:r>
            <a:endParaRPr sz="2200" dirty="0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 marL="12700" algn="l" rtl="0" eaLnBrk="0">
              <a:lnSpc>
                <a:spcPts val="3790"/>
              </a:lnSpc>
            </a:pPr>
            <a:r>
              <a:rPr sz="2200" kern="0" spc="-11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系列模型。</a:t>
            </a:r>
            <a:endParaRPr sz="2200" dirty="0"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04165" indent="-291465" algn="l" rtl="0" eaLnBrk="0">
              <a:lnSpc>
                <a:spcPct val="122000"/>
              </a:lnSpc>
              <a:spcBef>
                <a:spcPts val="665"/>
              </a:spcBef>
            </a:pP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·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</a:t>
            </a:r>
            <a:r>
              <a:rPr sz="2200" b="1" kern="0" spc="-3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旗舰模型：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Mistral </a:t>
            </a: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Large   3,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</a:t>
            </a:r>
            <a:r>
              <a:rPr sz="2200" kern="0" spc="12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首款混合专家模型，总参数</a:t>
            </a:r>
            <a:endParaRPr sz="2200" dirty="0"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  <a:p>
            <a:pPr marL="304165" algn="l" rtl="0" eaLnBrk="0">
              <a:lnSpc>
                <a:spcPct val="118000"/>
              </a:lnSpc>
              <a:spcBef>
                <a:spcPts val="1390"/>
              </a:spcBef>
            </a:pPr>
            <a:r>
              <a:rPr sz="2200" kern="0" spc="70" dirty="0">
                <a:solidFill>
                  <a:srgbClr val="000000">
                    <a:alpha val="100000"/>
                  </a:srgbClr>
                </a:solidFill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675B,  </a:t>
            </a:r>
            <a:r>
              <a:rPr sz="2200" kern="0" spc="7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活跃参数</a:t>
            </a:r>
            <a:r>
              <a:rPr sz="2200" kern="0" spc="6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41</a:t>
            </a:r>
            <a:r>
              <a:rPr sz="2200" kern="0" spc="60" dirty="0">
                <a:solidFill>
                  <a:srgbClr val="000000">
                    <a:alpha val="100000"/>
                  </a:srgbClr>
                </a:solidFill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B,</a:t>
            </a:r>
            <a:r>
              <a:rPr sz="2200" kern="0" spc="530" dirty="0">
                <a:solidFill>
                  <a:srgbClr val="000000">
                    <a:alpha val="100000"/>
                  </a:srgbClr>
                </a:solidFill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 </a:t>
            </a:r>
            <a:r>
              <a:rPr sz="2200" kern="0" spc="6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是顶尖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</a:t>
            </a:r>
            <a:r>
              <a:rPr sz="2200" kern="0" spc="9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的开放权重模型。</a:t>
            </a:r>
            <a:endParaRPr sz="2200" dirty="0"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04165" indent="-291465" algn="l" rtl="0" eaLnBrk="0">
              <a:lnSpc>
                <a:spcPct val="122000"/>
              </a:lnSpc>
              <a:spcBef>
                <a:spcPts val="5"/>
              </a:spcBef>
            </a:pP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·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开源许可：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小参数模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型(3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Times New Roman" panose="02020703060505090304"/>
                <a:ea typeface="Times New Roman" panose="02020703060505090304"/>
                <a:cs typeface="Times New Roman" panose="02020703060505090304"/>
              </a:rPr>
              <a:t>B,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703060505090304"/>
                <a:ea typeface="Times New Roman" panose="02020703060505090304"/>
                <a:cs typeface="Times New Roman" panose="02020703060505090304"/>
              </a:rPr>
              <a:t>  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8B,14B)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均以</a:t>
            </a:r>
            <a:r>
              <a:rPr sz="2300" b="1" kern="0" spc="0" dirty="0">
                <a:solidFill>
                  <a:srgbClr val="20509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Apache</a:t>
            </a:r>
            <a:r>
              <a:rPr sz="2300" b="1" kern="0" spc="440" dirty="0">
                <a:solidFill>
                  <a:srgbClr val="20509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2300" b="1" kern="0" spc="70" dirty="0">
                <a:solidFill>
                  <a:srgbClr val="20509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2.0</a:t>
            </a:r>
            <a:r>
              <a:rPr sz="2300" b="1" kern="0" spc="0" dirty="0">
                <a:solidFill>
                  <a:srgbClr val="20509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300" b="1" kern="0" spc="50" dirty="0">
                <a:solidFill>
                  <a:srgbClr val="3050A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许可证开源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。</a:t>
            </a:r>
            <a:endParaRPr sz="2300" dirty="0"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12484165" y="2768636"/>
            <a:ext cx="4073525" cy="5831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034415" algn="l" rtl="0" eaLnBrk="0">
              <a:lnSpc>
                <a:spcPct val="80000"/>
              </a:lnSpc>
            </a:pPr>
            <a:r>
              <a:rPr sz="4300" b="1" kern="0" spc="-30" dirty="0">
                <a:solidFill>
                  <a:srgbClr val="4060B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deepseek</a:t>
            </a:r>
            <a:endParaRPr sz="4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9210" algn="l" rtl="0" eaLnBrk="0">
              <a:lnSpc>
                <a:spcPct val="86000"/>
              </a:lnSpc>
              <a:spcBef>
                <a:spcPts val="700"/>
              </a:spcBef>
            </a:pP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模型发布：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开源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DeepSeek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-</a:t>
            </a:r>
            <a:endParaRPr sz="2300" dirty="0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 marL="24765" algn="l" rtl="0" eaLnBrk="0">
              <a:lnSpc>
                <a:spcPts val="3500"/>
              </a:lnSpc>
            </a:pPr>
            <a:r>
              <a:rPr sz="2200" kern="0" spc="-100" dirty="0">
                <a:solidFill>
                  <a:srgbClr val="000000">
                    <a:alpha val="100000"/>
                  </a:srgbClr>
                </a:solidFill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V3.2</a:t>
            </a:r>
            <a:r>
              <a:rPr sz="2200" kern="0" spc="-420" dirty="0">
                <a:solidFill>
                  <a:srgbClr val="000000">
                    <a:alpha val="100000"/>
                  </a:srgbClr>
                </a:solidFill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 </a:t>
            </a:r>
            <a:r>
              <a:rPr sz="2200" kern="0" spc="-10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系列。</a:t>
            </a:r>
            <a:endParaRPr sz="2200" dirty="0"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  <a:p>
            <a:pPr algn="l" rtl="0" eaLnBrk="0">
              <a:lnSpc>
                <a:spcPct val="159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09880" indent="-285115" algn="l" rtl="0" eaLnBrk="0">
              <a:lnSpc>
                <a:spcPct val="115000"/>
              </a:lnSpc>
              <a:spcBef>
                <a:spcPts val="665"/>
              </a:spcBef>
            </a:pP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·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Times New Roman" panose="02020703060505090304"/>
                <a:ea typeface="Times New Roman" panose="02020703060505090304"/>
                <a:cs typeface="Times New Roman" panose="02020703060505090304"/>
              </a:rPr>
              <a:t>DeepSeek-V3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Times New Roman" panose="02020703060505090304"/>
                <a:ea typeface="Times New Roman" panose="02020703060505090304"/>
                <a:cs typeface="Times New Roman" panose="02020703060505090304"/>
              </a:rPr>
              <a:t>.2:</a:t>
            </a:r>
            <a:r>
              <a:rPr sz="2200" kern="0" spc="40" dirty="0">
                <a:solidFill>
                  <a:srgbClr val="000000">
                    <a:alpha val="100000"/>
                  </a:srgbClr>
                </a:solidFill>
                <a:latin typeface="Times New Roman" panose="02020703060505090304"/>
                <a:ea typeface="Times New Roman" panose="02020703060505090304"/>
                <a:cs typeface="Times New Roman" panose="02020703060505090304"/>
              </a:rPr>
              <a:t>        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推理能力</a:t>
            </a:r>
            <a:r>
              <a:rPr sz="2200" kern="0" spc="7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达</a:t>
            </a:r>
            <a:r>
              <a:rPr sz="2200" kern="0" spc="-47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到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GPT-5</a:t>
            </a:r>
            <a:r>
              <a:rPr sz="2200" kern="0" spc="760" dirty="0">
                <a:solidFill>
                  <a:srgbClr val="000000">
                    <a:alpha val="100000"/>
                  </a:srgbClr>
                </a:solidFill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水平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。</a:t>
            </a:r>
            <a:endParaRPr sz="2200" dirty="0"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4765" algn="l" rtl="0" eaLnBrk="0">
              <a:lnSpc>
                <a:spcPct val="83000"/>
              </a:lnSpc>
              <a:spcBef>
                <a:spcPts val="700"/>
              </a:spcBef>
            </a:pP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·</a:t>
            </a:r>
            <a:r>
              <a:rPr sz="2300" kern="0" spc="2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DeepSeek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-V3.2-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Speciale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:</a:t>
            </a:r>
            <a:endParaRPr sz="2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10515" algn="l" rtl="0" eaLnBrk="0">
              <a:lnSpc>
                <a:spcPct val="86000"/>
              </a:lnSpc>
              <a:spcBef>
                <a:spcPts val="895"/>
              </a:spcBef>
            </a:pP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推理能力媲美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Gemini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-3.0-</a:t>
            </a:r>
            <a:endParaRPr sz="2300" dirty="0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 marL="310515" algn="l" rtl="0" eaLnBrk="0">
              <a:lnSpc>
                <a:spcPts val="3335"/>
              </a:lnSpc>
            </a:pP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</a:t>
            </a: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。</a:t>
            </a:r>
            <a:endParaRPr sz="2300" dirty="0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 algn="l" rtl="0" eaLnBrk="0">
              <a:lnSpc>
                <a:spcPct val="172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4765" algn="l" rtl="0" eaLnBrk="0">
              <a:lnSpc>
                <a:spcPct val="90000"/>
              </a:lnSpc>
              <a:spcBef>
                <a:spcPts val="660"/>
              </a:spcBef>
            </a:pP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·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在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Times New Roman" panose="02020703060505090304"/>
                <a:ea typeface="Times New Roman" panose="02020703060505090304"/>
                <a:cs typeface="Times New Roman" panose="02020703060505090304"/>
              </a:rPr>
              <a:t>Agent</a:t>
            </a:r>
            <a:r>
              <a:rPr sz="2200" kern="0" spc="400" dirty="0">
                <a:solidFill>
                  <a:srgbClr val="000000">
                    <a:alpha val="100000"/>
                  </a:srgbClr>
                </a:solidFill>
                <a:latin typeface="Times New Roman" panose="02020703060505090304"/>
                <a:ea typeface="Times New Roman" panose="02020703060505090304"/>
                <a:cs typeface="Times New Roman" panose="02020703060505090304"/>
              </a:rPr>
              <a:t> 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任务上实现突破，能</a:t>
            </a:r>
            <a:endParaRPr sz="2200" dirty="0"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  <a:p>
            <a:pPr marL="310515" algn="l" rtl="0" eaLnBrk="0">
              <a:lnSpc>
                <a:spcPts val="3315"/>
              </a:lnSpc>
            </a:pPr>
            <a:r>
              <a:rPr sz="2200" kern="0" spc="-4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够泛化推理策略。</a:t>
            </a:r>
            <a:endParaRPr sz="2200" dirty="0"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496865" y="2781336"/>
            <a:ext cx="914302" cy="704795"/>
          </a:xfrm>
          <a:prstGeom prst="rect">
            <a:avLst/>
          </a:prstGeom>
        </p:spPr>
      </p:pic>
      <p:sp>
        <p:nvSpPr>
          <p:cNvPr id="66" name="textbox 66"/>
          <p:cNvSpPr/>
          <p:nvPr/>
        </p:nvSpPr>
        <p:spPr>
          <a:xfrm>
            <a:off x="967547" y="937868"/>
            <a:ext cx="12853669" cy="6902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4700" b="1" kern="0" spc="9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开源力量的反击：性能直逼闭源，重塑竞争</a:t>
            </a:r>
            <a:r>
              <a:rPr sz="4700" b="1" kern="0" spc="80" dirty="0">
                <a:solidFill>
                  <a:srgbClr val="000000">
                    <a:alpha val="100000"/>
                  </a:srgbClr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格局</a:t>
            </a:r>
            <a:endParaRPr sz="4700" dirty="0">
              <a:latin typeface="SimHei" panose="02010609060101010101" charset="-122"/>
              <a:ea typeface="SimHei" panose="02010609060101010101" charset="-122"/>
              <a:cs typeface="SimHei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WPS 演示</Application>
  <PresentationFormat/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Arial</vt:lpstr>
      <vt:lpstr>SimHei</vt:lpstr>
      <vt:lpstr>SimSun</vt:lpstr>
      <vt:lpstr>Times New Roman</vt:lpstr>
      <vt:lpstr>KaiTi</vt:lpstr>
      <vt:lpstr>微软雅黑</vt:lpstr>
      <vt:lpstr>Arial Unicode MS</vt:lpstr>
      <vt:lpstr>Calibri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zhuhaijun</cp:lastModifiedBy>
  <cp:revision>2</cp:revision>
  <dcterms:created xsi:type="dcterms:W3CDTF">2025-12-09T12:23:28Z</dcterms:created>
  <dcterms:modified xsi:type="dcterms:W3CDTF">2025-12-09T12:23:28Z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2025-12-10T04:19:32Z</vt:filetime>
  </property>
  <property fmtid="{D5CDD505-2E9C-101B-9397-08002B2CF9AE}" pid="4" name="UsrData">
    <vt:lpwstr>693813bbf4e5d9001ff8d059wl</vt:lpwstr>
  </property>
  <property fmtid="{D5CDD505-2E9C-101B-9397-08002B2CF9AE}" pid="5" name="ICV">
    <vt:lpwstr>98B4959AD4EDC6F198143869316A276A_42</vt:lpwstr>
  </property>
  <property fmtid="{D5CDD505-2E9C-101B-9397-08002B2CF9AE}" pid="6" name="KSOProductBuildVer">
    <vt:lpwstr>2052-12.1.24031.24031</vt:lpwstr>
  </property>
</Properties>
</file>